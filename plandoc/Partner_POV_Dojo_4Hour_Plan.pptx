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a42717b8e248bf" /><Relationship Type="http://schemas.openxmlformats.org/officeDocument/2006/relationships/extended-properties" Target="/docProps/app.xml" Id="Rf89b2a87fece414e" /><Relationship Type="http://schemas.openxmlformats.org/officeDocument/2006/relationships/officeDocument" Target="/ppt/presentation.xml" Id="R75b0d89b941f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80d03d68834349"/>
  </p:sldMasterIdLst>
  <p:notesMasterIdLst>
    <p:notesMasterId xmlns:r="http://schemas.openxmlformats.org/officeDocument/2006/relationships" r:id="R007dbce50a194a7e"/>
  </p:notesMasterIdLst>
  <p:sldIdLst>
    <p:sldId xmlns:r="http://schemas.openxmlformats.org/officeDocument/2006/relationships" id="256" r:id="R582cda0f7eb94728"/>
    <p:sldId xmlns:r="http://schemas.openxmlformats.org/officeDocument/2006/relationships" id="257" r:id="Rc4bcad4fda6f4cdf"/>
    <p:sldId xmlns:r="http://schemas.openxmlformats.org/officeDocument/2006/relationships" id="258" r:id="Reef01973b71f49c6"/>
    <p:sldId xmlns:r="http://schemas.openxmlformats.org/officeDocument/2006/relationships" id="259" r:id="R9143e66e1e2c422e"/>
    <p:sldId xmlns:r="http://schemas.openxmlformats.org/officeDocument/2006/relationships" id="260" r:id="Rf1d8431232f04ced"/>
    <p:sldId xmlns:r="http://schemas.openxmlformats.org/officeDocument/2006/relationships" id="261" r:id="Rdc66009b002a4d5c"/>
    <p:sldId xmlns:r="http://schemas.openxmlformats.org/officeDocument/2006/relationships" id="262" r:id="Rfade46ba8c704993"/>
    <p:sldId xmlns:r="http://schemas.openxmlformats.org/officeDocument/2006/relationships" id="263" r:id="R5ff1205665ac47ef"/>
    <p:sldId xmlns:r="http://schemas.openxmlformats.org/officeDocument/2006/relationships" id="264" r:id="R9b0786d7f7c74986"/>
    <p:sldId xmlns:r="http://schemas.openxmlformats.org/officeDocument/2006/relationships" id="265" r:id="R8f93705879fa4b0d"/>
    <p:sldId xmlns:r="http://schemas.openxmlformats.org/officeDocument/2006/relationships" id="266" r:id="R4e1673ac678544a3"/>
    <p:sldId xmlns:r="http://schemas.openxmlformats.org/officeDocument/2006/relationships" id="267" r:id="R7c80a064a16a42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3230c991f34c32" /><Relationship Type="http://schemas.openxmlformats.org/officeDocument/2006/relationships/slideMaster" Target="/ppt/slideMasters/slideMaster1.xml" Id="R1880d03d68834349" /><Relationship Type="http://schemas.openxmlformats.org/officeDocument/2006/relationships/notesMaster" Target="/ppt/notesMasters/notesMaster1.xml" Id="R007dbce50a194a7e" /><Relationship Type="http://schemas.openxmlformats.org/officeDocument/2006/relationships/presProps" Target="/ppt/presProps.xml" Id="Rfe27ae6b056d4ee6" /><Relationship Type="http://schemas.openxmlformats.org/officeDocument/2006/relationships/tableStyles" Target="/ppt/tableStyles.xml" Id="R9a2a16d8b73e421e" /><Relationship Type="http://schemas.openxmlformats.org/officeDocument/2006/relationships/slide" Target="/ppt/slides/slide1.xml" Id="R582cda0f7eb94728" /><Relationship Type="http://schemas.openxmlformats.org/officeDocument/2006/relationships/slide" Target="/ppt/slides/slide2.xml" Id="Rc4bcad4fda6f4cdf" /><Relationship Type="http://schemas.openxmlformats.org/officeDocument/2006/relationships/slide" Target="/ppt/slides/slide3.xml" Id="Reef01973b71f49c6" /><Relationship Type="http://schemas.openxmlformats.org/officeDocument/2006/relationships/slide" Target="/ppt/slides/slide4.xml" Id="R9143e66e1e2c422e" /><Relationship Type="http://schemas.openxmlformats.org/officeDocument/2006/relationships/slide" Target="/ppt/slides/slide5.xml" Id="Rf1d8431232f04ced" /><Relationship Type="http://schemas.openxmlformats.org/officeDocument/2006/relationships/slide" Target="/ppt/slides/slide6.xml" Id="Rdc66009b002a4d5c" /><Relationship Type="http://schemas.openxmlformats.org/officeDocument/2006/relationships/slide" Target="/ppt/slides/slide7.xml" Id="Rfade46ba8c704993" /><Relationship Type="http://schemas.openxmlformats.org/officeDocument/2006/relationships/slide" Target="/ppt/slides/slide8.xml" Id="R5ff1205665ac47ef" /><Relationship Type="http://schemas.openxmlformats.org/officeDocument/2006/relationships/slide" Target="/ppt/slides/slide9.xml" Id="R9b0786d7f7c74986" /><Relationship Type="http://schemas.openxmlformats.org/officeDocument/2006/relationships/slide" Target="/ppt/slides/slide10.xml" Id="R8f93705879fa4b0d" /><Relationship Type="http://schemas.openxmlformats.org/officeDocument/2006/relationships/slide" Target="/ppt/slides/slide11.xml" Id="R4e1673ac678544a3" /><Relationship Type="http://schemas.openxmlformats.org/officeDocument/2006/relationships/slide" Target="/ppt/slides/slide12.xml" Id="R7c80a064a16a42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94e7675a3e49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2fc9a89b564a5e" /><Relationship Type="http://schemas.openxmlformats.org/officeDocument/2006/relationships/notesMaster" Target="/ppt/notesMasters/notesMaster1.xml" Id="R0c1c36e450254c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1a1990a89b4d19" /><Relationship Type="http://schemas.openxmlformats.org/officeDocument/2006/relationships/notesMaster" Target="/ppt/notesMasters/notesMaster1.xml" Id="R75e28588bc0c43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66932cf4dc4fd9" /><Relationship Type="http://schemas.openxmlformats.org/officeDocument/2006/relationships/notesMaster" Target="/ppt/notesMasters/notesMaster1.xml" Id="Rc0fe72d30d0649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f3ff2194ae4d90" /><Relationship Type="http://schemas.openxmlformats.org/officeDocument/2006/relationships/notesMaster" Target="/ppt/notesMasters/notesMaster1.xml" Id="Re36cbe1c87174c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cc104a639a4ea6" /><Relationship Type="http://schemas.openxmlformats.org/officeDocument/2006/relationships/notesMaster" Target="/ppt/notesMasters/notesMaster1.xml" Id="Rf90a40a7b60f4b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e2271c8f144a6b" /><Relationship Type="http://schemas.openxmlformats.org/officeDocument/2006/relationships/notesMaster" Target="/ppt/notesMasters/notesMaster1.xml" Id="Rf82748cf838447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aaf8d89fb0440e" /><Relationship Type="http://schemas.openxmlformats.org/officeDocument/2006/relationships/notesMaster" Target="/ppt/notesMasters/notesMaster1.xml" Id="R5975899e05664a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d72fa16b5247a2" /><Relationship Type="http://schemas.openxmlformats.org/officeDocument/2006/relationships/notesMaster" Target="/ppt/notesMasters/notesMaster1.xml" Id="Rc67ca6a7671a45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6e60aae7ab4a7f" /><Relationship Type="http://schemas.openxmlformats.org/officeDocument/2006/relationships/notesMaster" Target="/ppt/notesMasters/notesMaster1.xml" Id="R5b2efbfb12c344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40b7a6067a4cb8" /><Relationship Type="http://schemas.openxmlformats.org/officeDocument/2006/relationships/notesMaster" Target="/ppt/notesMasters/notesMaster1.xml" Id="R329e6e07901b40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061d4b9a5d4422" /><Relationship Type="http://schemas.openxmlformats.org/officeDocument/2006/relationships/notesMaster" Target="/ppt/notesMasters/notesMaster1.xml" Id="Ree124117804944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052da3cda546cd" /><Relationship Type="http://schemas.openxmlformats.org/officeDocument/2006/relationships/notesMaster" Target="/ppt/notesMasters/notesMaster1.xml" Id="Rdde9890a41ac46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기획·운영팀 검토용. 기존 테넌트 보유를 전제로 작성한 제안서이며, 고객 및 실습 사례는 교육용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대화를 정리한 4시간 파일럿 운영 제안입니다. 공식 Wiz 인증 과정이나 확정 정책을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대화를 정리한 4시간 파일럿 운영 제안입니다. 공식 Wiz 인증 과정이나 확정 정책을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대화를 정리한 4시간 파일럿 운영 제안입니다. 공식 Wiz 인증 과정이나 확정 정책을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대화를 정리한 4시간 파일럿 운영 제안입니다. 공식 Wiz 인증 과정이나 확정 정책을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가상 고객 예시. 실제 고객이나 실제 성과가 아닙니다. 고객 브리프에는 사업·기존 도구·핵심 서비스 정보를 제공하고, 예산·일정·의사결정자 등의 추가 정보는 질문할 때 고객 역할자가 공개하도록 역할 카드에 분리합니다. CSP와 아키텍처는 실습 테넌트와 일치시킵니다.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실습은 실제 테넌트에서 확인 가능한 데이터만 사용합니다. 확인된 사실과 추가 검증이 필요한 추론을 구분합니다. 최초 수집과 조치 후 재수집 대기는 사전에 완료하거나 사전 확보 증거로 대체합니다.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https://www.wiz.io/academy/cloud-security/how-to-evaluate-wiz-faq</a:t>
            </a:r>
          </a:p>
          <a:p xmlns:a="http://schemas.openxmlformats.org/drawingml/2006/main">
            <a:r>
              <a:t>Wiz의 맥락 기반 위험 우선순위 접근 참고. 커리큘럼과 성공기준은 본 워크숍을 위한 제안.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대화를 정리한 4시간 파일럿 운영 제안입니다. 공식 Wiz 인증 과정이나 확정 정책을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대화를 정리한 4시간 파일럿 운영 제안입니다. 공식 Wiz 인증 과정이나 확정 정책을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대화를 정리한 4시간 파일럿 운영 제안입니다. 공식 Wiz 인증 과정이나 확정 정책을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대화를 정리한 4시간 파일럿 운영 제안입니다. 공식 Wiz 인증 과정이나 확정 정책을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수료는 샘플 고객 POV를 완주했는지 평가하는 기준입니다. 공식 인증 또는 모든 고객 환경에서의 독립 수행 자격을 의미하지 않습니다. 마지막 20분에는 개인별 보완점과 첫 실전 기회에 사용할 질문·성공기준·필요 지원을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9d3c1586c44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d06bde9fc34da0" /><Relationship Type="http://schemas.openxmlformats.org/officeDocument/2006/relationships/slideLayout" Target="/ppt/slideLayouts/slideLayout1.xml" Id="Rf4490c01cf01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490c01cf01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d57f546d340b9" /><Relationship Type="http://schemas.openxmlformats.org/officeDocument/2006/relationships/notesSlide" Target="/ppt/notesSlides/notesSlide1.xml" Id="R6efddd686e6a49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44f72687f455b" /><Relationship Type="http://schemas.openxmlformats.org/officeDocument/2006/relationships/notesSlide" Target="/ppt/notesSlides/notesSlide2.xml" Id="R6cba22a312154e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33a5035224d7e" /><Relationship Type="http://schemas.openxmlformats.org/officeDocument/2006/relationships/notesSlide" Target="/ppt/notesSlides/notesSlide3.xml" Id="Rbd4a27a8c70e4f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fba26b0bd4ba7" /><Relationship Type="http://schemas.openxmlformats.org/officeDocument/2006/relationships/notesSlide" Target="/ppt/notesSlides/notesSlide4.xml" Id="R9a7ac25f7f4e4c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dde68c11f42a0" /><Relationship Type="http://schemas.openxmlformats.org/officeDocument/2006/relationships/notesSlide" Target="/ppt/notesSlides/notesSlide5.xml" Id="R68629cc56aff47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9c05313b84ee5" /><Relationship Type="http://schemas.openxmlformats.org/officeDocument/2006/relationships/notesSlide" Target="/ppt/notesSlides/notesSlide6.xml" Id="R9877bd1bbfc24f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b18c5ba164b04" /><Relationship Type="http://schemas.openxmlformats.org/officeDocument/2006/relationships/notesSlide" Target="/ppt/notesSlides/notesSlide7.xml" Id="R86f59fb042d94c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9f1b731d94eb9" /><Relationship Type="http://schemas.openxmlformats.org/officeDocument/2006/relationships/notesSlide" Target="/ppt/notesSlides/notesSlide8.xml" Id="Rf9b800d0fa7748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e8f6348d84984" /><Relationship Type="http://schemas.openxmlformats.org/officeDocument/2006/relationships/notesSlide" Target="/ppt/notesSlides/notesSlide9.xml" Id="R0fe2ce6d64c643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a181a21f74853" /><Relationship Type="http://schemas.openxmlformats.org/officeDocument/2006/relationships/notesSlide" Target="/ppt/notesSlides/notesSlide10.xml" Id="R41ed30461b694d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21112dca84130" /><Relationship Type="http://schemas.openxmlformats.org/officeDocument/2006/relationships/notesSlide" Target="/ppt/notesSlides/notesSlide11.xml" Id="R2b18cc29c06b4c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324e4e0e04faf" /><Relationship Type="http://schemas.openxmlformats.org/officeDocument/2006/relationships/notesSlide" Target="/ppt/notesSlides/notesSlide12.xml" Id="Ra7ce3731275c4c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A6F0C50-787D-4296-808E-C62E6A89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APJ PARTNER ENABLEMENT  /  4-HOUR WORKSHOP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2DE2887-528F-4266-B8A9-6DB79361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112014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6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Partner</a:t>
            </a:r>
          </a:p>
          <a:p xmlns:a="http://schemas.openxmlformats.org/drawingml/2006/main">
            <a:pPr>
              <a:defRPr sz="6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6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POV Dojo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3D453EB-A411-481F-B8F7-0E8D1725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파트너가 직접 계획하고, 검증하고, 고객에게 설명하는 POV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3A5DDC-940F-4A51-972C-71DEC43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4시간 커리큘럼 · 실습 설계 · 준비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570352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4">
            <a:extLst xmlns:a="http://schemas.openxmlformats.org/drawingml/2006/main">
              <a:ext uri="{FF2B5EF4-FFF2-40B4-BE49-F238E27FC236}">
                <a16:creationId xmlns:a16="http://schemas.microsoft.com/office/drawing/2014/main" id="{7F29C8AD-5648-4305-84DA-976397DD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01 / 프로그램 목표</a:t>
            </a:r>
          </a:p>
        </p:txBody>
      </p:sp>
      <p:sp>
        <p:nvSpPr>
          <p:cNvPr id="2" name="text-5">
            <a:extLst xmlns:a="http://schemas.openxmlformats.org/drawingml/2006/main">
              <a:ext uri="{FF2B5EF4-FFF2-40B4-BE49-F238E27FC236}">
                <a16:creationId xmlns:a16="http://schemas.microsoft.com/office/drawing/2014/main" id="{7B203490-DD9F-4EFD-B4A0-48540D4B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파트너가 POV 전 과정을 주도한다</a:t>
            </a:r>
          </a:p>
        </p:txBody>
      </p:sp>
      <p:sp>
        <p:nvSpPr>
          <p:cNvPr id="3" name="text-6">
            <a:extLst xmlns:a="http://schemas.openxmlformats.org/drawingml/2006/main">
              <a:ext uri="{FF2B5EF4-FFF2-40B4-BE49-F238E27FC236}">
                <a16:creationId xmlns:a16="http://schemas.microsoft.com/office/drawing/2014/main" id="{34EFB072-2807-4667-9F2E-1611CD7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Wiz 팀은 진행자·코치·고객 역할을 맡고, 파트너는 직접 실행한다.</a:t>
            </a:r>
          </a:p>
        </p:txBody>
      </p:sp>
      <p:sp>
        <p:nvSpPr>
          <p:cNvPr id="4" name="text-7">
            <a:extLst xmlns:a="http://schemas.openxmlformats.org/drawingml/2006/main">
              <a:ext uri="{FF2B5EF4-FFF2-40B4-BE49-F238E27FC236}">
                <a16:creationId xmlns:a16="http://schemas.microsoft.com/office/drawing/2014/main" id="{0C62BD74-4480-4876-B80F-A405E006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CF866368-7A95-4AF4-95EF-76C25F6C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7DBBDCC7-1A54-492E-9F5D-FA1B4F26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-10">
            <a:extLst xmlns:a="http://schemas.openxmlformats.org/drawingml/2006/main">
              <a:ext uri="{FF2B5EF4-FFF2-40B4-BE49-F238E27FC236}">
                <a16:creationId xmlns:a16="http://schemas.microsoft.com/office/drawing/2014/main" id="{5819564C-5687-4AE7-801B-7F550674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계획한다</a:t>
            </a:r>
          </a:p>
        </p:txBody>
      </p:sp>
      <p:sp>
        <p:nvSpPr>
          <p:cNvPr id="8" name="text-11">
            <a:extLst xmlns:a="http://schemas.openxmlformats.org/drawingml/2006/main">
              <a:ext uri="{FF2B5EF4-FFF2-40B4-BE49-F238E27FC236}">
                <a16:creationId xmlns:a16="http://schemas.microsoft.com/office/drawing/2014/main" id="{CF22627B-29CE-425D-AE4C-82E7D65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문제를 확인하고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범위·성공기준·일정·책임자를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합의한다.</a:t>
            </a:r>
          </a:p>
        </p:txBody>
      </p:sp>
      <p:sp>
        <p:nvSpPr>
          <p:cNvPr id="9" name="text-12">
            <a:extLst xmlns:a="http://schemas.openxmlformats.org/drawingml/2006/main">
              <a:ext uri="{FF2B5EF4-FFF2-40B4-BE49-F238E27FC236}">
                <a16:creationId xmlns:a16="http://schemas.microsoft.com/office/drawing/2014/main" id="{44FC6935-2F1F-453D-944E-710B3045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-13">
            <a:extLst xmlns:a="http://schemas.openxmlformats.org/drawingml/2006/main">
              <a:ext uri="{FF2B5EF4-FFF2-40B4-BE49-F238E27FC236}">
                <a16:creationId xmlns:a16="http://schemas.microsoft.com/office/drawing/2014/main" id="{E91BA9EC-802C-4A97-81A2-B71C1865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검증한다</a:t>
            </a:r>
          </a:p>
        </p:txBody>
      </p:sp>
      <p:sp>
        <p:nvSpPr>
          <p:cNvPr id="11" name="text-14">
            <a:extLst xmlns:a="http://schemas.openxmlformats.org/drawingml/2006/main">
              <a:ext uri="{FF2B5EF4-FFF2-40B4-BE49-F238E27FC236}">
                <a16:creationId xmlns:a16="http://schemas.microsoft.com/office/drawing/2014/main" id="{CC367A67-4D2C-47FF-AF1B-82099326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테넌트에서 근거를 찾고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위험 우선순위와 조치 방법을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설명한다.</a:t>
            </a:r>
          </a:p>
        </p:txBody>
      </p:sp>
      <p:sp>
        <p:nvSpPr>
          <p:cNvPr id="12" name="text-15">
            <a:extLst xmlns:a="http://schemas.openxmlformats.org/drawingml/2006/main">
              <a:ext uri="{FF2B5EF4-FFF2-40B4-BE49-F238E27FC236}">
                <a16:creationId xmlns:a16="http://schemas.microsoft.com/office/drawing/2014/main" id="{950621DD-7BFA-4F8D-B06D-BC3B9B22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-16">
            <a:extLst xmlns:a="http://schemas.openxmlformats.org/drawingml/2006/main">
              <a:ext uri="{FF2B5EF4-FFF2-40B4-BE49-F238E27FC236}">
                <a16:creationId xmlns:a16="http://schemas.microsoft.com/office/drawing/2014/main" id="{A9A43708-06B6-4050-B7E7-C0897AFE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결정을 이끈다</a:t>
            </a:r>
          </a:p>
        </p:txBody>
      </p:sp>
      <p:sp>
        <p:nvSpPr>
          <p:cNvPr id="14" name="text-17">
            <a:extLst xmlns:a="http://schemas.openxmlformats.org/drawingml/2006/main">
              <a:ext uri="{FF2B5EF4-FFF2-40B4-BE49-F238E27FC236}">
                <a16:creationId xmlns:a16="http://schemas.microsoft.com/office/drawing/2014/main" id="{AECD746F-F86A-4FD0-A1B2-7FED01B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성공기준별 결과를 보고하고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질문에 답하며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다음 단계를 합의한다.</a:t>
            </a:r>
          </a:p>
        </p:txBody>
      </p:sp>
    </p:spTree>
    <p:extLst>
      <p:ext uri="{BB962C8B-B14F-4D97-AF65-F5344CB8AC3E}">
        <p14:creationId xmlns:p14="http://schemas.microsoft.com/office/powerpoint/2010/main" val="846183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8">
            <a:extLst xmlns:a="http://schemas.openxmlformats.org/drawingml/2006/main">
              <a:ext uri="{FF2B5EF4-FFF2-40B4-BE49-F238E27FC236}">
                <a16:creationId xmlns:a16="http://schemas.microsoft.com/office/drawing/2014/main" id="{B7506A47-9AEF-4F1C-825D-5A924F46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02 / 운영 방식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2F53FABD-7C3A-4B5B-A039-4A654400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4팀이 같은 고객의 POV를 완주한다</a:t>
            </a:r>
          </a:p>
        </p:txBody>
      </p:sp>
      <p:sp>
        <p:nvSpPr>
          <p:cNvPr id="3" name="text-20">
            <a:extLst xmlns:a="http://schemas.openxmlformats.org/drawingml/2006/main">
              <a:ext uri="{FF2B5EF4-FFF2-40B4-BE49-F238E27FC236}">
                <a16:creationId xmlns:a16="http://schemas.microsoft.com/office/drawing/2014/main" id="{A491F819-920E-4257-BC30-90F6135F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대상: 제품 기초교육을 이수한 파트너 SA/SE · 모든 참가자가 콘솔 실습</a:t>
            </a:r>
          </a:p>
        </p:txBody>
      </p:sp>
      <p:sp>
        <p:nvSpPr>
          <p:cNvPr id="4" name="text-21">
            <a:extLst xmlns:a="http://schemas.openxmlformats.org/drawingml/2006/main">
              <a:ext uri="{FF2B5EF4-FFF2-40B4-BE49-F238E27FC236}">
                <a16:creationId xmlns:a16="http://schemas.microsoft.com/office/drawing/2014/main" id="{5217F914-B9CD-469E-B375-FF5B5F2F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22ED1E43-7908-4B97-85A8-98E1858B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82FF0AF0-0D86-47D6-B5A8-BC831B8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12–16명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37125FD6-A4AB-43FD-A92E-C34B422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3–4명 × 4팀</a:t>
            </a: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68312AAF-C840-465B-A5D3-B42C137F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분석·기록·발표 역할 교대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개인 계정으로 접속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팀별 공동 문서 사용</a:t>
            </a: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4BF88149-6E19-4868-9D84-E1DA38C8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2명</a:t>
            </a:r>
          </a:p>
        </p:txBody>
      </p:sp>
      <p:sp>
        <p:nvSpPr>
          <p:cNvPr id="10" name="text-27">
            <a:extLst xmlns:a="http://schemas.openxmlformats.org/drawingml/2006/main">
              <a:ext uri="{FF2B5EF4-FFF2-40B4-BE49-F238E27FC236}">
                <a16:creationId xmlns:a16="http://schemas.microsoft.com/office/drawing/2014/main" id="{F0308BF8-21C9-46D8-B42A-A948CFF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진행자 + 실습 코치</a:t>
            </a:r>
          </a:p>
        </p:txBody>
      </p:sp>
      <p:sp>
        <p:nvSpPr>
          <p:cNvPr id="11" name="text-28">
            <a:extLst xmlns:a="http://schemas.openxmlformats.org/drawingml/2006/main">
              <a:ext uri="{FF2B5EF4-FFF2-40B4-BE49-F238E27FC236}">
                <a16:creationId xmlns:a16="http://schemas.microsoft.com/office/drawing/2014/main" id="{AB20910F-CDDA-41DD-8DAA-376B4B1C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역할과 진행 관리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기술 질문과 실습 지원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팀별 발표 피드백</a:t>
            </a:r>
          </a:p>
        </p:txBody>
      </p:sp>
      <p:sp>
        <p:nvSpPr>
          <p:cNvPr id="12" name="text-29">
            <a:extLst xmlns:a="http://schemas.openxmlformats.org/drawingml/2006/main">
              <a:ext uri="{FF2B5EF4-FFF2-40B4-BE49-F238E27FC236}">
                <a16:creationId xmlns:a16="http://schemas.microsoft.com/office/drawing/2014/main" id="{F44349B5-3C9A-47D0-9A7C-C94A2E3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3종</a:t>
            </a:r>
          </a:p>
        </p:txBody>
      </p:sp>
      <p:sp>
        <p:nvSpPr>
          <p:cNvPr id="13" name="text-30">
            <a:extLst xmlns:a="http://schemas.openxmlformats.org/drawingml/2006/main">
              <a:ext uri="{FF2B5EF4-FFF2-40B4-BE49-F238E27FC236}">
                <a16:creationId xmlns:a16="http://schemas.microsoft.com/office/drawing/2014/main" id="{0AABDBAB-252F-4FEE-89DD-CCDE7FE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팀별 최종 산출물</a:t>
            </a:r>
          </a:p>
        </p:txBody>
      </p:sp>
      <p:sp>
        <p:nvSpPr>
          <p:cNvPr id="14" name="text-31">
            <a:extLst xmlns:a="http://schemas.openxmlformats.org/drawingml/2006/main">
              <a:ext uri="{FF2B5EF4-FFF2-40B4-BE49-F238E27FC236}">
                <a16:creationId xmlns:a16="http://schemas.microsoft.com/office/drawing/2014/main" id="{3517735D-2415-4F25-9B65-9D4FCC7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POV 계획서 1장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검증 근거·발견사항 기록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결과보고 3장</a:t>
            </a:r>
          </a:p>
        </p:txBody>
      </p:sp>
    </p:spTree>
    <p:extLst>
      <p:ext uri="{BB962C8B-B14F-4D97-AF65-F5344CB8AC3E}">
        <p14:creationId xmlns:p14="http://schemas.microsoft.com/office/powerpoint/2010/main" val="1418659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2B6DBD06-892F-4D44-A23F-AA403E50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03 / 4시간 아젠다 · 전반</a:t>
            </a:r>
          </a:p>
        </p:txBody>
      </p:sp>
      <p:sp>
        <p:nvSpPr>
          <p:cNvPr id="2" name="text-33">
            <a:extLst xmlns:a="http://schemas.openxmlformats.org/drawingml/2006/main">
              <a:ext uri="{FF2B5EF4-FFF2-40B4-BE49-F238E27FC236}">
                <a16:creationId xmlns:a16="http://schemas.microsoft.com/office/drawing/2014/main" id="{4CCFD334-14C2-4B4E-AD67-E9C97607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전반 90분: 고객과 검증 범위를 합의한다</a:t>
            </a:r>
          </a:p>
        </p:txBody>
      </p:sp>
      <p:sp>
        <p:nvSpPr>
          <p:cNvPr id="3" name="text-34">
            <a:extLst xmlns:a="http://schemas.openxmlformats.org/drawingml/2006/main">
              <a:ext uri="{FF2B5EF4-FFF2-40B4-BE49-F238E27FC236}">
                <a16:creationId xmlns:a16="http://schemas.microsoft.com/office/drawing/2014/main" id="{55A483E7-FD0A-47FD-934A-EA362106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13:00–14:30 · 설명 직후 참가자가 직접 작성하고 확인</a:t>
            </a:r>
          </a:p>
        </p:txBody>
      </p:sp>
      <p:sp>
        <p:nvSpPr>
          <p:cNvPr id="4" name="text-35">
            <a:extLst xmlns:a="http://schemas.openxmlformats.org/drawingml/2006/main">
              <a:ext uri="{FF2B5EF4-FFF2-40B4-BE49-F238E27FC236}">
                <a16:creationId xmlns:a16="http://schemas.microsoft.com/office/drawing/2014/main" id="{32EED913-0040-4223-9F29-1E23B11A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3215AF2E-AC38-4B50-92AB-62DE15C7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9D44E-C1FF-44A1-B4BF-80C7172F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7" name="text-37">
            <a:extLst xmlns:a="http://schemas.openxmlformats.org/drawingml/2006/main">
              <a:ext uri="{FF2B5EF4-FFF2-40B4-BE49-F238E27FC236}">
                <a16:creationId xmlns:a16="http://schemas.microsoft.com/office/drawing/2014/main" id="{3E8BEB7C-2767-40BD-9420-F1AD9C5F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13:00 · 10분</a:t>
            </a:r>
          </a:p>
        </p:txBody>
      </p:sp>
      <p:sp>
        <p:nvSpPr>
          <p:cNvPr id="8" name="text-38">
            <a:extLst xmlns:a="http://schemas.openxmlformats.org/drawingml/2006/main">
              <a:ext uri="{FF2B5EF4-FFF2-40B4-BE49-F238E27FC236}">
                <a16:creationId xmlns:a16="http://schemas.microsoft.com/office/drawing/2014/main" id="{11C56131-F7B8-4A35-B7AF-CC35CE00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오프닝·미션</a:t>
            </a:r>
          </a:p>
        </p:txBody>
      </p:sp>
      <p:sp>
        <p:nvSpPr>
          <p:cNvPr id="9" name="text-39">
            <a:extLst xmlns:a="http://schemas.openxmlformats.org/drawingml/2006/main">
              <a:ext uri="{FF2B5EF4-FFF2-40B4-BE49-F238E27FC236}">
                <a16:creationId xmlns:a16="http://schemas.microsoft.com/office/drawing/2014/main" id="{178F2A2C-6C9B-4A2F-B194-320C8BE2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가상 고객, 역할, 산출물·평가 기준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F6DDD-C4A1-4B52-9DD6-41CB2CDF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323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1" name="text-40">
            <a:extLst xmlns:a="http://schemas.openxmlformats.org/drawingml/2006/main">
              <a:ext uri="{FF2B5EF4-FFF2-40B4-BE49-F238E27FC236}">
                <a16:creationId xmlns:a16="http://schemas.microsoft.com/office/drawing/2014/main" id="{F77BD181-AA4F-4FA5-B58D-9564E283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896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13:10 · 30분</a:t>
            </a:r>
          </a:p>
        </p:txBody>
      </p:sp>
      <p:sp>
        <p:nvSpPr>
          <p:cNvPr id="12" name="text-41">
            <a:extLst xmlns:a="http://schemas.openxmlformats.org/drawingml/2006/main">
              <a:ext uri="{FF2B5EF4-FFF2-40B4-BE49-F238E27FC236}">
                <a16:creationId xmlns:a16="http://schemas.microsoft.com/office/drawing/2014/main" id="{414626B1-76EA-4652-8A90-59FD5B4B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0896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Discovery &amp; Planning</a:t>
            </a:r>
          </a:p>
        </p:txBody>
      </p:sp>
      <p:sp>
        <p:nvSpPr>
          <p:cNvPr id="13" name="text-42">
            <a:extLst xmlns:a="http://schemas.openxmlformats.org/drawingml/2006/main">
              <a:ext uri="{FF2B5EF4-FFF2-40B4-BE49-F238E27FC236}">
                <a16:creationId xmlns:a16="http://schemas.microsoft.com/office/drawing/2014/main" id="{0BEC4DAF-D9F6-4A7B-96B0-D5C84BA5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896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질문 → 성공기준 3개·범위·일정 합의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A30F0-E7EC-40B2-B623-08A2CFC2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474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5" name="text-43">
            <a:extLst xmlns:a="http://schemas.openxmlformats.org/drawingml/2006/main">
              <a:ext uri="{FF2B5EF4-FFF2-40B4-BE49-F238E27FC236}">
                <a16:creationId xmlns:a16="http://schemas.microsoft.com/office/drawing/2014/main" id="{8040230B-00F1-4340-A2A5-3E838439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047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13:40 · 25분</a:t>
            </a:r>
          </a:p>
        </p:txBody>
      </p:sp>
      <p:sp>
        <p:nvSpPr>
          <p:cNvPr id="16" name="text-44">
            <a:extLst xmlns:a="http://schemas.openxmlformats.org/drawingml/2006/main">
              <a:ext uri="{FF2B5EF4-FFF2-40B4-BE49-F238E27FC236}">
                <a16:creationId xmlns:a16="http://schemas.microsoft.com/office/drawing/2014/main" id="{9208BE30-3B69-4B6A-8829-3EACDCAD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6047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온보딩·첫 24시간</a:t>
            </a:r>
          </a:p>
        </p:txBody>
      </p:sp>
      <p:sp>
        <p:nvSpPr>
          <p:cNvPr id="17" name="text-45">
            <a:extLst xmlns:a="http://schemas.openxmlformats.org/drawingml/2006/main">
              <a:ext uri="{FF2B5EF4-FFF2-40B4-BE49-F238E27FC236}">
                <a16:creationId xmlns:a16="http://schemas.microsoft.com/office/drawing/2014/main" id="{FE5017E0-01C7-4464-BA43-E271499C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047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연결·권한·수집 점검, 누락·지연 대응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6AE16-F0BC-4523-92A1-F849A656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625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9" name="text-46">
            <a:extLst xmlns:a="http://schemas.openxmlformats.org/drawingml/2006/main">
              <a:ext uri="{FF2B5EF4-FFF2-40B4-BE49-F238E27FC236}">
                <a16:creationId xmlns:a16="http://schemas.microsoft.com/office/drawing/2014/main" id="{31866762-2845-4A96-9C40-2D35262E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198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14:05 · 15분</a:t>
            </a:r>
          </a:p>
        </p:txBody>
      </p:sp>
      <p:sp>
        <p:nvSpPr>
          <p:cNvPr id="20" name="text-47">
            <a:extLst xmlns:a="http://schemas.openxmlformats.org/drawingml/2006/main">
              <a:ext uri="{FF2B5EF4-FFF2-40B4-BE49-F238E27FC236}">
                <a16:creationId xmlns:a16="http://schemas.microsoft.com/office/drawing/2014/main" id="{96DA97BB-6C37-475E-8C8B-63E2EE0C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198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Golden Walkthrough</a:t>
            </a:r>
          </a:p>
        </p:txBody>
      </p:sp>
      <p:sp>
        <p:nvSpPr>
          <p:cNvPr id="21" name="text-48">
            <a:extLst xmlns:a="http://schemas.openxmlformats.org/drawingml/2006/main">
              <a:ext uri="{FF2B5EF4-FFF2-40B4-BE49-F238E27FC236}">
                <a16:creationId xmlns:a16="http://schemas.microsoft.com/office/drawing/2014/main" id="{891138ED-274A-4679-BCBE-F34C097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198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질문 → 위험 근거 → 영향·조치 시연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1840D-9D3D-469F-B737-48004D6A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776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23" name="text-49">
            <a:extLst xmlns:a="http://schemas.openxmlformats.org/drawingml/2006/main">
              <a:ext uri="{FF2B5EF4-FFF2-40B4-BE49-F238E27FC236}">
                <a16:creationId xmlns:a16="http://schemas.microsoft.com/office/drawing/2014/main" id="{56836744-B6DF-4CF1-B62B-B850B73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349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14:20 · 10분</a:t>
            </a:r>
          </a:p>
        </p:txBody>
      </p:sp>
      <p:sp>
        <p:nvSpPr>
          <p:cNvPr id="24" name="text-50">
            <a:extLst xmlns:a="http://schemas.openxmlformats.org/drawingml/2006/main">
              <a:ext uri="{FF2B5EF4-FFF2-40B4-BE49-F238E27FC236}">
                <a16:creationId xmlns:a16="http://schemas.microsoft.com/office/drawing/2014/main" id="{7B3BD402-0998-45D4-BE44-30997B07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6349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휴식</a:t>
            </a:r>
          </a:p>
        </p:txBody>
      </p:sp>
      <p:sp>
        <p:nvSpPr>
          <p:cNvPr id="25" name="text-51">
            <a:extLst xmlns:a="http://schemas.openxmlformats.org/drawingml/2006/main">
              <a:ext uri="{FF2B5EF4-FFF2-40B4-BE49-F238E27FC236}">
                <a16:creationId xmlns:a16="http://schemas.microsoft.com/office/drawing/2014/main" id="{7A52013E-7726-4FAE-842D-07181D0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349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14:30 실습 재개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962FB-CC9A-4376-ADB6-954D9142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73450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2">
            <a:extLst xmlns:a="http://schemas.openxmlformats.org/drawingml/2006/main">
              <a:ext uri="{FF2B5EF4-FFF2-40B4-BE49-F238E27FC236}">
                <a16:creationId xmlns:a16="http://schemas.microsoft.com/office/drawing/2014/main" id="{7B221EF3-0D60-41C7-AEDE-123FD0F9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04 / 4시간 아젠다 · 후반</a:t>
            </a:r>
          </a:p>
        </p:txBody>
      </p:sp>
      <p:sp>
        <p:nvSpPr>
          <p:cNvPr id="2" name="text-53">
            <a:extLst xmlns:a="http://schemas.openxmlformats.org/drawingml/2006/main">
              <a:ext uri="{FF2B5EF4-FFF2-40B4-BE49-F238E27FC236}">
                <a16:creationId xmlns:a16="http://schemas.microsoft.com/office/drawing/2014/main" id="{D14FB572-29B7-4221-91D8-91DA6263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후반 150분: 직접 검증하고 발표한다</a:t>
            </a:r>
          </a:p>
        </p:txBody>
      </p:sp>
      <p:sp>
        <p:nvSpPr>
          <p:cNvPr id="3" name="text-54">
            <a:extLst xmlns:a="http://schemas.openxmlformats.org/drawingml/2006/main">
              <a:ext uri="{FF2B5EF4-FFF2-40B4-BE49-F238E27FC236}">
                <a16:creationId xmlns:a16="http://schemas.microsoft.com/office/drawing/2014/main" id="{CEA9F4DF-6425-472E-B404-CC502749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14:30–17:00 · 전체 240분, 휴식 포함</a:t>
            </a:r>
          </a:p>
        </p:txBody>
      </p:sp>
      <p:sp>
        <p:nvSpPr>
          <p:cNvPr id="4" name="text-55">
            <a:extLst xmlns:a="http://schemas.openxmlformats.org/drawingml/2006/main">
              <a:ext uri="{FF2B5EF4-FFF2-40B4-BE49-F238E27FC236}">
                <a16:creationId xmlns:a16="http://schemas.microsoft.com/office/drawing/2014/main" id="{902D81AF-7334-464B-9C69-217C7746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4CF634AC-5983-4730-96EF-260E79A9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79D96-7668-4FCF-A19D-5BBE2C87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A15D2D66-EA04-4C32-A4D6-1B00ABEC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9050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14:30 · 60분</a:t>
            </a:r>
          </a:p>
        </p:txBody>
      </p:sp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F1BED7C0-BDCE-4EE2-B6DD-7063A276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3143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Partner-led POV Lab</a:t>
            </a:r>
          </a:p>
        </p:txBody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5E2B86A1-6E67-49A0-BA95-4DCDCAD6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55816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위험 2건 분석 → 근거·우선순위·조치 정리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1A8DC-A831-4D27-84E7-3599F250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6113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CC67BC7F-4AEB-4DBA-965E-FBFE130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1838"/>
            <a:ext cx="19050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15:30 · 25분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2C60E74F-2F83-49E1-879D-FCAD599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71838"/>
            <a:ext cx="3143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결과보고·질문 연습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BD934CE0-A83C-48BE-A68D-81DCD9E6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71838"/>
            <a:ext cx="55816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3장 작성 15분 + 고객 질문 연습 10분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412DF-5709-4B1D-A6CD-144C7785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5" name="text-63">
            <a:extLst xmlns:a="http://schemas.openxmlformats.org/drawingml/2006/main">
              <a:ext uri="{FF2B5EF4-FFF2-40B4-BE49-F238E27FC236}">
                <a16:creationId xmlns:a16="http://schemas.microsoft.com/office/drawing/2014/main" id="{3F533CED-74F4-45F8-A011-118E51BA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19050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15:55 · 45분</a:t>
            </a:r>
          </a:p>
        </p:txBody>
      </p:sp>
      <p:sp>
        <p:nvSpPr>
          <p:cNvPr id="16" name="text-64">
            <a:extLst xmlns:a="http://schemas.openxmlformats.org/drawingml/2006/main">
              <a:ext uri="{FF2B5EF4-FFF2-40B4-BE49-F238E27FC236}">
                <a16:creationId xmlns:a16="http://schemas.microsoft.com/office/drawing/2014/main" id="{E0C7D9B6-47E8-43D9-AD29-B494001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86225"/>
            <a:ext cx="3143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Customer Playback</a:t>
            </a:r>
          </a:p>
        </p:txBody>
      </p:sp>
      <p:sp>
        <p:nvSpPr>
          <p:cNvPr id="17" name="text-65">
            <a:extLst xmlns:a="http://schemas.openxmlformats.org/drawingml/2006/main">
              <a:ext uri="{FF2B5EF4-FFF2-40B4-BE49-F238E27FC236}">
                <a16:creationId xmlns:a16="http://schemas.microsoft.com/office/drawing/2014/main" id="{1CB189AE-0E55-4853-B788-AD5D22EE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86225"/>
            <a:ext cx="55816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4팀 × 10분 + 공통 피드백 5분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C89CA-F2F1-4199-9657-900AF6E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4888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9" name="text-66">
            <a:extLst xmlns:a="http://schemas.openxmlformats.org/drawingml/2006/main">
              <a:ext uri="{FF2B5EF4-FFF2-40B4-BE49-F238E27FC236}">
                <a16:creationId xmlns:a16="http://schemas.microsoft.com/office/drawing/2014/main" id="{0EAE93F8-8137-4C67-AED4-0A00F70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0613"/>
            <a:ext cx="19050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16:40 · 20분</a:t>
            </a:r>
          </a:p>
        </p:txBody>
      </p:sp>
      <p:sp>
        <p:nvSpPr>
          <p:cNvPr id="20" name="text-67">
            <a:extLst xmlns:a="http://schemas.openxmlformats.org/drawingml/2006/main">
              <a:ext uri="{FF2B5EF4-FFF2-40B4-BE49-F238E27FC236}">
                <a16:creationId xmlns:a16="http://schemas.microsoft.com/office/drawing/2014/main" id="{F92424E2-EE0D-418E-BB12-DCEE8450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00613"/>
            <a:ext cx="3143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평가·실전 적용</a:t>
            </a:r>
          </a:p>
        </p:txBody>
      </p:sp>
      <p:sp>
        <p:nvSpPr>
          <p:cNvPr id="21" name="text-68">
            <a:extLst xmlns:a="http://schemas.openxmlformats.org/drawingml/2006/main">
              <a:ext uri="{FF2B5EF4-FFF2-40B4-BE49-F238E27FC236}">
                <a16:creationId xmlns:a16="http://schemas.microsoft.com/office/drawing/2014/main" id="{F36B1155-B904-45BE-858D-B9FBEB5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00613"/>
            <a:ext cx="55816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개인 보완점과 첫 고객 POV 계획 정리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71C21-BF99-47D5-9D54-DDD1D5FF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2462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69">
            <a:extLst xmlns:a="http://schemas.openxmlformats.org/drawingml/2006/main">
              <a:ext uri="{FF2B5EF4-FFF2-40B4-BE49-F238E27FC236}">
                <a16:creationId xmlns:a16="http://schemas.microsoft.com/office/drawing/2014/main" id="{39829854-5898-4BA9-847E-FAD8901F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05 / 가상 고객·페르소나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9F37486A-D8C0-4FEA-A980-C2EF6F6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공통 고객, 세 가지 관점으로 질문한다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5CFFD6D9-25C7-45A7-9961-130237B9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교육용 APJ SaaS 기업: 자산·취약점은 증가하지만 조치 우선순위와 책임이 불명확</a:t>
            </a:r>
          </a:p>
        </p:txBody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323D53A1-7657-4565-A411-83927281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73">
            <a:extLst xmlns:a="http://schemas.openxmlformats.org/drawingml/2006/main">
              <a:ext uri="{FF2B5EF4-FFF2-40B4-BE49-F238E27FC236}">
                <a16:creationId xmlns:a16="http://schemas.microsoft.com/office/drawing/2014/main" id="{B7C825AF-C09D-4ACE-83B0-77DF25A1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6" name="text-74">
            <a:extLst xmlns:a="http://schemas.openxmlformats.org/drawingml/2006/main">
              <a:ext uri="{FF2B5EF4-FFF2-40B4-BE49-F238E27FC236}">
                <a16:creationId xmlns:a16="http://schemas.microsoft.com/office/drawing/2014/main" id="{34002ECE-6A1F-4BDF-9246-D5EF027F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CISO</a:t>
            </a:r>
          </a:p>
        </p:txBody>
      </p:sp>
      <p:sp>
        <p:nvSpPr>
          <p:cNvPr id="7" name="text-75">
            <a:extLst xmlns:a="http://schemas.openxmlformats.org/drawingml/2006/main">
              <a:ext uri="{FF2B5EF4-FFF2-40B4-BE49-F238E27FC236}">
                <a16:creationId xmlns:a16="http://schemas.microsoft.com/office/drawing/2014/main" id="{82BFB54B-F181-49FC-9442-FC2FA12D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투자 판단</a:t>
            </a:r>
          </a:p>
        </p:txBody>
      </p:sp>
      <p:sp>
        <p:nvSpPr>
          <p:cNvPr id="8" name="text-76">
            <a:extLst xmlns:a="http://schemas.openxmlformats.org/drawingml/2006/main">
              <a:ext uri="{FF2B5EF4-FFF2-40B4-BE49-F238E27FC236}">
                <a16:creationId xmlns:a16="http://schemas.microsoft.com/office/drawing/2014/main" id="{427561DD-7131-4AB8-9B6C-1E5C6756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왜 지금 도입해야 하나요?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어떤 위험을 줄일 수 있나요?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성공을 무엇으로 판단하죠?</a:t>
            </a:r>
          </a:p>
        </p:txBody>
      </p:sp>
      <p:sp>
        <p:nvSpPr>
          <p:cNvPr id="9" name="text-77">
            <a:extLst xmlns:a="http://schemas.openxmlformats.org/drawingml/2006/main">
              <a:ext uri="{FF2B5EF4-FFF2-40B4-BE49-F238E27FC236}">
                <a16:creationId xmlns:a16="http://schemas.microsoft.com/office/drawing/2014/main" id="{B24716F2-9ADD-4217-B83F-CA07808D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SECURITY</a:t>
            </a:r>
          </a:p>
        </p:txBody>
      </p:sp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4A488AE4-04B3-4D96-BC5A-A8BFC22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분석·우선순위</a:t>
            </a:r>
          </a:p>
        </p:txBody>
      </p:sp>
      <p:sp>
        <p:nvSpPr>
          <p:cNvPr id="11" name="text-79">
            <a:extLst xmlns:a="http://schemas.openxmlformats.org/drawingml/2006/main">
              <a:ext uri="{FF2B5EF4-FFF2-40B4-BE49-F238E27FC236}">
                <a16:creationId xmlns:a16="http://schemas.microsoft.com/office/drawing/2014/main" id="{F458CAA1-085A-45C9-BA57-EC1E644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기존 도구와 무엇이 다르죠?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어떤 이슈부터 조사하나요?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근거를 보여줄 수 있나요?</a:t>
            </a:r>
          </a:p>
        </p:txBody>
      </p:sp>
      <p:sp>
        <p:nvSpPr>
          <p:cNvPr id="12" name="text-80">
            <a:extLst xmlns:a="http://schemas.openxmlformats.org/drawingml/2006/main">
              <a:ext uri="{FF2B5EF4-FFF2-40B4-BE49-F238E27FC236}">
                <a16:creationId xmlns:a16="http://schemas.microsoft.com/office/drawing/2014/main" id="{EC0E7B9E-4651-496D-B505-B572E5F0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PLATFORM</a:t>
            </a:r>
          </a:p>
        </p:txBody>
      </p:sp>
      <p:sp>
        <p:nvSpPr>
          <p:cNvPr id="13" name="text-81">
            <a:extLst xmlns:a="http://schemas.openxmlformats.org/drawingml/2006/main">
              <a:ext uri="{FF2B5EF4-FFF2-40B4-BE49-F238E27FC236}">
                <a16:creationId xmlns:a16="http://schemas.microsoft.com/office/drawing/2014/main" id="{449C4E89-5DE4-41ED-9A3C-FE3493F6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조치·운영 영향</a:t>
            </a:r>
          </a:p>
        </p:txBody>
      </p:sp>
      <p:sp>
        <p:nvSpPr>
          <p:cNvPr id="14" name="text-82">
            <a:extLst xmlns:a="http://schemas.openxmlformats.org/drawingml/2006/main">
              <a:ext uri="{FF2B5EF4-FFF2-40B4-BE49-F238E27FC236}">
                <a16:creationId xmlns:a16="http://schemas.microsoft.com/office/drawing/2014/main" id="{03CEEDE5-87FA-49D5-B494-482D11D9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우리 팀은 무엇을 해야 하죠?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서비스 영향은 없나요?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해결 여부는 어떻게 확인하죠?</a:t>
            </a:r>
          </a:p>
        </p:txBody>
      </p:sp>
    </p:spTree>
    <p:extLst>
      <p:ext uri="{BB962C8B-B14F-4D97-AF65-F5344CB8AC3E}">
        <p14:creationId xmlns:p14="http://schemas.microsoft.com/office/powerpoint/2010/main" val="1629257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83">
            <a:extLst xmlns:a="http://schemas.openxmlformats.org/drawingml/2006/main">
              <a:ext uri="{FF2B5EF4-FFF2-40B4-BE49-F238E27FC236}">
                <a16:creationId xmlns:a16="http://schemas.microsoft.com/office/drawing/2014/main" id="{A77F3094-2AB6-4E67-84FA-6200175B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06 / 실습 커리큘럼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C60FF42E-A09F-45F7-BCAB-053EC4CC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성공기준마다 검증 방법과 증거를 연결한다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1CF20E2E-BA04-465F-91D9-DB34C70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공통 고객 1곳 · 준비된 위험 사례 2건 · 핵심 검증 질문 3개</a:t>
            </a:r>
          </a:p>
        </p:txBody>
      </p:sp>
      <p:sp>
        <p:nvSpPr>
          <p:cNvPr id="4" name="text-86">
            <a:extLst xmlns:a="http://schemas.openxmlformats.org/drawingml/2006/main">
              <a:ext uri="{FF2B5EF4-FFF2-40B4-BE49-F238E27FC236}">
                <a16:creationId xmlns:a16="http://schemas.microsoft.com/office/drawing/2014/main" id="{68663B8C-5BDF-4B29-BB38-11DD2AB3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15FC7AEF-F873-4A36-BF9D-630A8AF8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CAC42-042A-4B61-8761-E31EE0EE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EE9A6297-E77D-4A3E-BF47-7D4272E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가시성</a:t>
            </a:r>
          </a:p>
        </p:txBody>
      </p:sp>
      <p:sp>
        <p:nvSpPr>
          <p:cNvPr id="8" name="text-89">
            <a:extLst xmlns:a="http://schemas.openxmlformats.org/drawingml/2006/main">
              <a:ext uri="{FF2B5EF4-FFF2-40B4-BE49-F238E27FC236}">
                <a16:creationId xmlns:a16="http://schemas.microsoft.com/office/drawing/2014/main" id="{BB65B196-12E6-447E-B4E8-479848C7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무엇을 보호하는가?</a:t>
            </a:r>
          </a:p>
        </p:txBody>
      </p:sp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CA7AE86C-A52C-4BBF-B24C-3B13664C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5581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핵심 자산 확인·목록 비교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수집 누락과 범위 제한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99A52-93CD-49D6-94B6-9B77D36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57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1" name="text-91">
            <a:extLst xmlns:a="http://schemas.openxmlformats.org/drawingml/2006/main">
              <a:ext uri="{FF2B5EF4-FFF2-40B4-BE49-F238E27FC236}">
                <a16:creationId xmlns:a16="http://schemas.microsoft.com/office/drawing/2014/main" id="{0479B7F6-72C7-4936-A5F9-695559C8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우선순위</a:t>
            </a:r>
          </a:p>
        </p:txBody>
      </p:sp>
      <p:sp>
        <p:nvSpPr>
          <p:cNvPr id="12" name="text-92">
            <a:extLst xmlns:a="http://schemas.openxmlformats.org/drawingml/2006/main">
              <a:ext uri="{FF2B5EF4-FFF2-40B4-BE49-F238E27FC236}">
                <a16:creationId xmlns:a16="http://schemas.microsoft.com/office/drawing/2014/main" id="{A4B6D65C-5C6A-4AA8-A9FA-E8E85310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무엇부터 해결하는가?</a:t>
            </a:r>
          </a:p>
        </p:txBody>
      </p:sp>
      <p:sp>
        <p:nvSpPr>
          <p:cNvPr id="13" name="text-93">
            <a:extLst xmlns:a="http://schemas.openxmlformats.org/drawingml/2006/main">
              <a:ext uri="{FF2B5EF4-FFF2-40B4-BE49-F238E27FC236}">
                <a16:creationId xmlns:a16="http://schemas.microsoft.com/office/drawing/2014/main" id="{86D636BA-B1B3-4A38-B372-255F489E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581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노출·취약점·권한·데이터 근거 추적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사례 2개를 비교하고 우선순위 설명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02BA0-C461-4735-A377-BA7AFDE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434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5" name="text-94">
            <a:extLst xmlns:a="http://schemas.openxmlformats.org/drawingml/2006/main">
              <a:ext uri="{FF2B5EF4-FFF2-40B4-BE49-F238E27FC236}">
                <a16:creationId xmlns:a16="http://schemas.microsoft.com/office/drawing/2014/main" id="{DA73265C-37A1-4480-9103-9A5369B1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조치와 가치</a:t>
            </a:r>
          </a:p>
        </p:txBody>
      </p:sp>
      <p:sp>
        <p:nvSpPr>
          <p:cNvPr id="16" name="text-95">
            <a:extLst xmlns:a="http://schemas.openxmlformats.org/drawingml/2006/main">
              <a:ext uri="{FF2B5EF4-FFF2-40B4-BE49-F238E27FC236}">
                <a16:creationId xmlns:a16="http://schemas.microsoft.com/office/drawing/2014/main" id="{20910914-04EA-4025-B29D-A3F4D1F4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291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다음에 무엇을 하는가?</a:t>
            </a:r>
          </a:p>
        </p:txBody>
      </p:sp>
      <p:sp>
        <p:nvSpPr>
          <p:cNvPr id="17" name="text-96">
            <a:extLst xmlns:a="http://schemas.openxmlformats.org/drawingml/2006/main">
              <a:ext uri="{FF2B5EF4-FFF2-40B4-BE49-F238E27FC236}">
                <a16:creationId xmlns:a16="http://schemas.microsoft.com/office/drawing/2014/main" id="{E911CEF4-060F-4F79-8362-764560D5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5581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조치 담당자·방법·재검증 기준 정리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최초 고객 요구와 검증 결과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6DC33-332B-4225-B262-363C971C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46371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97">
            <a:extLst xmlns:a="http://schemas.openxmlformats.org/drawingml/2006/main">
              <a:ext uri="{FF2B5EF4-FFF2-40B4-BE49-F238E27FC236}">
                <a16:creationId xmlns:a16="http://schemas.microsoft.com/office/drawing/2014/main" id="{CC8D8F7D-765A-4513-BCBF-7AD5E44A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07 / Customer Playback</a:t>
            </a:r>
          </a:p>
        </p:txBody>
      </p:sp>
      <p:sp>
        <p:nvSpPr>
          <p:cNvPr id="2" name="text-98">
            <a:extLst xmlns:a="http://schemas.openxmlformats.org/drawingml/2006/main">
              <a:ext uri="{FF2B5EF4-FFF2-40B4-BE49-F238E27FC236}">
                <a16:creationId xmlns:a16="http://schemas.microsoft.com/office/drawing/2014/main" id="{1EB14386-F5C8-4793-AEAF-E7604F9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결과보고 3장으로 고객의 다음 결정을 돕는다</a:t>
            </a:r>
          </a:p>
        </p:txBody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1278CEDD-FF6C-4974-878C-07E506BE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팀당 발표 6분 + 고객 질문 2분 + 코치 피드백 2분</a:t>
            </a:r>
          </a:p>
        </p:txBody>
      </p:sp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AAA7BE60-F1EB-4E5A-B105-F427571A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101">
            <a:extLst xmlns:a="http://schemas.openxmlformats.org/drawingml/2006/main">
              <a:ext uri="{FF2B5EF4-FFF2-40B4-BE49-F238E27FC236}">
                <a16:creationId xmlns:a16="http://schemas.microsoft.com/office/drawing/2014/main" id="{A6018A55-5CC1-4D0C-865E-47581D0A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6" name="text-102">
            <a:extLst xmlns:a="http://schemas.openxmlformats.org/drawingml/2006/main">
              <a:ext uri="{FF2B5EF4-FFF2-40B4-BE49-F238E27FC236}">
                <a16:creationId xmlns:a16="http://schemas.microsoft.com/office/drawing/2014/main" id="{7181C8F9-580C-4E25-A7E4-F50704EC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SLIDE 1</a:t>
            </a:r>
          </a:p>
        </p:txBody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584892E8-D1A3-454A-A124-B9B4BA80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목표·평가 범위</a:t>
            </a:r>
          </a:p>
        </p:txBody>
      </p:sp>
      <p:sp>
        <p:nvSpPr>
          <p:cNvPr id="8" name="text-104">
            <a:extLst xmlns:a="http://schemas.openxmlformats.org/drawingml/2006/main">
              <a:ext uri="{FF2B5EF4-FFF2-40B4-BE49-F238E27FC236}">
                <a16:creationId xmlns:a16="http://schemas.microsoft.com/office/drawing/2014/main" id="{1030FE90-0590-4036-8F6F-6EFA84BC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문제와 평가 목적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성공기준 3개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대상 범위와 제한사항</a:t>
            </a:r>
          </a:p>
        </p:txBody>
      </p:sp>
      <p:sp>
        <p:nvSpPr>
          <p:cNvPr id="9" name="text-105">
            <a:extLst xmlns:a="http://schemas.openxmlformats.org/drawingml/2006/main">
              <a:ext uri="{FF2B5EF4-FFF2-40B4-BE49-F238E27FC236}">
                <a16:creationId xmlns:a16="http://schemas.microsoft.com/office/drawing/2014/main" id="{B82DDA9F-7571-420C-9E5A-BF570C55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SLIDE 2</a:t>
            </a:r>
          </a:p>
        </p:txBody>
      </p:sp>
      <p:sp>
        <p:nvSpPr>
          <p:cNvPr id="10" name="text-106">
            <a:extLst xmlns:a="http://schemas.openxmlformats.org/drawingml/2006/main">
              <a:ext uri="{FF2B5EF4-FFF2-40B4-BE49-F238E27FC236}">
                <a16:creationId xmlns:a16="http://schemas.microsoft.com/office/drawing/2014/main" id="{E6DE5028-8ED8-48CF-9908-C66C2171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결과·증거</a:t>
            </a:r>
          </a:p>
        </p:txBody>
      </p:sp>
      <p:sp>
        <p:nvSpPr>
          <p:cNvPr id="11" name="text-107">
            <a:extLst xmlns:a="http://schemas.openxmlformats.org/drawingml/2006/main">
              <a:ext uri="{FF2B5EF4-FFF2-40B4-BE49-F238E27FC236}">
                <a16:creationId xmlns:a16="http://schemas.microsoft.com/office/drawing/2014/main" id="{12710AD8-BB1F-404F-821B-8A9CCD41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충족 / 일부 충족 / 미검증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주요 위험과 분석 근거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우선순위와 고객 영향</a:t>
            </a:r>
          </a:p>
        </p:txBody>
      </p:sp>
      <p:sp>
        <p:nvSpPr>
          <p:cNvPr id="12" name="text-108">
            <a:extLst xmlns:a="http://schemas.openxmlformats.org/drawingml/2006/main">
              <a:ext uri="{FF2B5EF4-FFF2-40B4-BE49-F238E27FC236}">
                <a16:creationId xmlns:a16="http://schemas.microsoft.com/office/drawing/2014/main" id="{4F969ABE-D9EA-4586-8140-6F57D3F6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SLIDE 3</a:t>
            </a:r>
          </a:p>
        </p:txBody>
      </p:sp>
      <p:sp>
        <p:nvSpPr>
          <p:cNvPr id="13" name="text-109">
            <a:extLst xmlns:a="http://schemas.openxmlformats.org/drawingml/2006/main">
              <a:ext uri="{FF2B5EF4-FFF2-40B4-BE49-F238E27FC236}">
                <a16:creationId xmlns:a16="http://schemas.microsoft.com/office/drawing/2014/main" id="{2DDD7D17-AF90-4036-9628-2143D2C5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조치·다음 합의</a:t>
            </a:r>
          </a:p>
        </p:txBody>
      </p:sp>
      <p:sp>
        <p:nvSpPr>
          <p:cNvPr id="14" name="text-110">
            <a:extLst xmlns:a="http://schemas.openxmlformats.org/drawingml/2006/main">
              <a:ext uri="{FF2B5EF4-FFF2-40B4-BE49-F238E27FC236}">
                <a16:creationId xmlns:a16="http://schemas.microsoft.com/office/drawing/2014/main" id="{CEB8822A-061B-4B58-BBDA-D8301A21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50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추천 조치와 담당자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추가 검증 항목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다음 미팅·의사결정 일정</a:t>
            </a:r>
          </a:p>
        </p:txBody>
      </p:sp>
    </p:spTree>
    <p:extLst>
      <p:ext uri="{BB962C8B-B14F-4D97-AF65-F5344CB8AC3E}">
        <p14:creationId xmlns:p14="http://schemas.microsoft.com/office/powerpoint/2010/main" val="1861608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11">
            <a:extLst xmlns:a="http://schemas.openxmlformats.org/drawingml/2006/main">
              <a:ext uri="{FF2B5EF4-FFF2-40B4-BE49-F238E27FC236}">
                <a16:creationId xmlns:a16="http://schemas.microsoft.com/office/drawing/2014/main" id="{AAF546F9-467F-4B0F-B559-4F56FDF1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08 / 기술 준비 체크리스트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A03918C2-EA57-4F1B-B562-49652C5F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테넌트는 참가자 권한으로 사전 검증한다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2886C701-1D3F-43E5-8C9C-A87BF609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기존 테넌트 활용 · 실제 고객 데이터 대신 교육용·비식별 데이터 사용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5DCA1DA6-63F9-4D95-9CDE-D4752830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3F483710-6CD7-4898-866F-70E673F2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51C2E-642B-4753-B60F-638B7C00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7" name="text-116">
            <a:extLst xmlns:a="http://schemas.openxmlformats.org/drawingml/2006/main">
              <a:ext uri="{FF2B5EF4-FFF2-40B4-BE49-F238E27FC236}">
                <a16:creationId xmlns:a16="http://schemas.microsoft.com/office/drawing/2014/main" id="{EFAFCC00-6E5E-497D-8808-D9D79153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접속·권한</a:t>
            </a:r>
          </a:p>
        </p:txBody>
      </p:sp>
      <p:sp>
        <p:nvSpPr>
          <p:cNvPr id="8" name="text-117">
            <a:extLst xmlns:a="http://schemas.openxmlformats.org/drawingml/2006/main">
              <a:ext uri="{FF2B5EF4-FFF2-40B4-BE49-F238E27FC236}">
                <a16:creationId xmlns:a16="http://schemas.microsoft.com/office/drawing/2014/main" id="{5390B21B-C8D4-4187-B232-6C4008B6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참가자별 확인</a:t>
            </a:r>
          </a:p>
        </p:txBody>
      </p:sp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33B6BE57-317B-4871-B8D1-BED17DEA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로그인·MFA, 대상 범위와 필요한 작업 권한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4D182-F2AD-4EC2-806C-8E10212F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323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1" name="text-119">
            <a:extLst xmlns:a="http://schemas.openxmlformats.org/drawingml/2006/main">
              <a:ext uri="{FF2B5EF4-FFF2-40B4-BE49-F238E27FC236}">
                <a16:creationId xmlns:a16="http://schemas.microsoft.com/office/drawing/2014/main" id="{59C43241-A98B-4052-98F1-3C93FF0A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896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연결·수집</a:t>
            </a:r>
          </a:p>
        </p:txBody>
      </p:sp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9DB93B7E-1FD5-4184-9FA3-3FE759F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0896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최초 수집 완료</a:t>
            </a:r>
          </a:p>
        </p:txBody>
      </p:sp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053E565C-4974-4DE0-A74F-B720FF60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896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클라우드 연결·수집 상태와 핵심 자산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D713F-F7FC-4D76-95AE-4DF30591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474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5" name="text-122">
            <a:extLst xmlns:a="http://schemas.openxmlformats.org/drawingml/2006/main">
              <a:ext uri="{FF2B5EF4-FFF2-40B4-BE49-F238E27FC236}">
                <a16:creationId xmlns:a16="http://schemas.microsoft.com/office/drawing/2014/main" id="{13E00CC3-9E34-4DE4-B081-66464D09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047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실습 사례</a:t>
            </a:r>
          </a:p>
        </p:txBody>
      </p:sp>
      <p:sp>
        <p:nvSpPr>
          <p:cNvPr id="16" name="text-123">
            <a:extLst xmlns:a="http://schemas.openxmlformats.org/drawingml/2006/main">
              <a:ext uri="{FF2B5EF4-FFF2-40B4-BE49-F238E27FC236}">
                <a16:creationId xmlns:a16="http://schemas.microsoft.com/office/drawing/2014/main" id="{B7291F22-A87A-4CFE-A64B-E125A172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6047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위험 2–3건 선정</a:t>
            </a:r>
          </a:p>
        </p:txBody>
      </p:sp>
      <p:sp>
        <p:nvSpPr>
          <p:cNvPr id="17" name="text-124">
            <a:extLst xmlns:a="http://schemas.openxmlformats.org/drawingml/2006/main">
              <a:ext uri="{FF2B5EF4-FFF2-40B4-BE49-F238E27FC236}">
                <a16:creationId xmlns:a16="http://schemas.microsoft.com/office/drawing/2014/main" id="{425E48BB-ABDE-4564-A322-34014DE8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047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자산·Issue ID, 예상 분석 경로와 핵심 근거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FD362-69EE-47AA-9372-A40D7AC8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625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9" name="text-125">
            <a:extLst xmlns:a="http://schemas.openxmlformats.org/drawingml/2006/main">
              <a:ext uri="{FF2B5EF4-FFF2-40B4-BE49-F238E27FC236}">
                <a16:creationId xmlns:a16="http://schemas.microsoft.com/office/drawing/2014/main" id="{AC614D58-8CCC-4DFC-B7D0-502D1FF1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198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공동 사용</a:t>
            </a:r>
          </a:p>
        </p:txBody>
      </p:sp>
      <p:sp>
        <p:nvSpPr>
          <p:cNvPr id="20" name="text-126">
            <a:extLst xmlns:a="http://schemas.openxmlformats.org/drawingml/2006/main">
              <a:ext uri="{FF2B5EF4-FFF2-40B4-BE49-F238E27FC236}">
                <a16:creationId xmlns:a16="http://schemas.microsoft.com/office/drawing/2014/main" id="{618E3907-18F2-47B6-A708-102E0007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198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팀별 작업 규칙</a:t>
            </a:r>
          </a:p>
        </p:txBody>
      </p:sp>
      <p:sp>
        <p:nvSpPr>
          <p:cNvPr id="21" name="text-127">
            <a:extLst xmlns:a="http://schemas.openxmlformats.org/drawingml/2006/main">
              <a:ext uri="{FF2B5EF4-FFF2-40B4-BE49-F238E27FC236}">
                <a16:creationId xmlns:a16="http://schemas.microsoft.com/office/drawing/2014/main" id="{8EA6062D-7DB0-457F-87EA-C7D100CD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198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저장 위치·이름 규칙, 공유 설정 변경 범위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56FDF-E3E9-4D18-95AF-2C23E418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776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23" name="text-128">
            <a:extLst xmlns:a="http://schemas.openxmlformats.org/drawingml/2006/main">
              <a:ext uri="{FF2B5EF4-FFF2-40B4-BE49-F238E27FC236}">
                <a16:creationId xmlns:a16="http://schemas.microsoft.com/office/drawing/2014/main" id="{0A7F1B84-B8F6-436E-B412-0806953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349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복구·대체</a:t>
            </a:r>
          </a:p>
        </p:txBody>
      </p:sp>
      <p:sp>
        <p:nvSpPr>
          <p:cNvPr id="24" name="text-129">
            <a:extLst xmlns:a="http://schemas.openxmlformats.org/drawingml/2006/main">
              <a:ext uri="{FF2B5EF4-FFF2-40B4-BE49-F238E27FC236}">
                <a16:creationId xmlns:a16="http://schemas.microsoft.com/office/drawing/2014/main" id="{87B5E412-3FE9-4389-9265-E0645536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6349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중단 없는 실습</a:t>
            </a:r>
          </a:p>
        </p:txBody>
      </p:sp>
      <p:sp>
        <p:nvSpPr>
          <p:cNvPr id="25" name="text-130">
            <a:extLst xmlns:a="http://schemas.openxmlformats.org/drawingml/2006/main">
              <a:ext uri="{FF2B5EF4-FFF2-40B4-BE49-F238E27FC236}">
                <a16:creationId xmlns:a16="http://schemas.microsoft.com/office/drawing/2014/main" id="{7A408AA8-1503-43CF-B087-1084FCC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349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화면 캡처·예시 결과, 변경 실습 시 복구 절차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8C829-ED07-4EED-9F85-623E2187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726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31">
            <a:extLst xmlns:a="http://schemas.openxmlformats.org/drawingml/2006/main">
              <a:ext uri="{FF2B5EF4-FFF2-40B4-BE49-F238E27FC236}">
                <a16:creationId xmlns:a16="http://schemas.microsoft.com/office/drawing/2014/main" id="{B9D98E4F-E703-449B-A9C9-A9BE4E4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09 / 콘텐츠·행사 준비</a:t>
            </a:r>
          </a:p>
        </p:txBody>
      </p:sp>
      <p:sp>
        <p:nvSpPr>
          <p:cNvPr id="2" name="text-132">
            <a:extLst xmlns:a="http://schemas.openxmlformats.org/drawingml/2006/main">
              <a:ext uri="{FF2B5EF4-FFF2-40B4-BE49-F238E27FC236}">
                <a16:creationId xmlns:a16="http://schemas.microsoft.com/office/drawing/2014/main" id="{99079C81-E32B-41FD-AA55-22F74FF7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운영 자료를 하나의 워크숍 패키지로 준비한다</a:t>
            </a:r>
          </a:p>
        </p:txBody>
      </p:sp>
      <p:sp>
        <p:nvSpPr>
          <p:cNvPr id="3" name="text-133">
            <a:extLst xmlns:a="http://schemas.openxmlformats.org/drawingml/2006/main">
              <a:ext uri="{FF2B5EF4-FFF2-40B4-BE49-F238E27FC236}">
                <a16:creationId xmlns:a16="http://schemas.microsoft.com/office/drawing/2014/main" id="{88D676B4-19DB-464E-B0C9-D9148BBE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참가자용 자료와 강사용 정답·평가 자료를 구분해 배포</a:t>
            </a:r>
          </a:p>
        </p:txBody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F70BE0AA-E3DC-4CCD-9C2A-010F13FE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135">
            <a:extLst xmlns:a="http://schemas.openxmlformats.org/drawingml/2006/main">
              <a:ext uri="{FF2B5EF4-FFF2-40B4-BE49-F238E27FC236}">
                <a16:creationId xmlns:a16="http://schemas.microsoft.com/office/drawing/2014/main" id="{B07F3023-B2CF-4DBB-B281-132D22D2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968D1-9556-4771-B319-8E32842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7" name="text-136">
            <a:extLst xmlns:a="http://schemas.openxmlformats.org/drawingml/2006/main">
              <a:ext uri="{FF2B5EF4-FFF2-40B4-BE49-F238E27FC236}">
                <a16:creationId xmlns:a16="http://schemas.microsoft.com/office/drawing/2014/main" id="{41D377D2-1626-44F5-9F27-B97F6970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고객 패키지</a:t>
            </a:r>
          </a:p>
        </p:txBody>
      </p:sp>
      <p:sp>
        <p:nvSpPr>
          <p:cNvPr id="8" name="text-137">
            <a:extLst xmlns:a="http://schemas.openxmlformats.org/drawingml/2006/main">
              <a:ext uri="{FF2B5EF4-FFF2-40B4-BE49-F238E27FC236}">
                <a16:creationId xmlns:a16="http://schemas.microsoft.com/office/drawing/2014/main" id="{11780FE2-2B38-4200-B7C1-3D0FF076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브리프·아키텍처·역할 카드</a:t>
            </a:r>
          </a:p>
        </p:txBody>
      </p:sp>
      <p:sp>
        <p:nvSpPr>
          <p:cNvPr id="9" name="text-138">
            <a:extLst xmlns:a="http://schemas.openxmlformats.org/drawingml/2006/main">
              <a:ext uri="{FF2B5EF4-FFF2-40B4-BE49-F238E27FC236}">
                <a16:creationId xmlns:a16="http://schemas.microsoft.com/office/drawing/2014/main" id="{08F461C8-C416-4641-A418-2238C77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사업·도구·문제·범위·기간·의사결정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C06B3-BE21-4FB1-9311-41BE5AC5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323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1" name="text-139">
            <a:extLst xmlns:a="http://schemas.openxmlformats.org/drawingml/2006/main">
              <a:ext uri="{FF2B5EF4-FFF2-40B4-BE49-F238E27FC236}">
                <a16:creationId xmlns:a16="http://schemas.microsoft.com/office/drawing/2014/main" id="{90FD8362-E322-4B26-8F90-125A4B3A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896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워크북</a:t>
            </a:r>
          </a:p>
        </p:txBody>
      </p:sp>
      <p:sp>
        <p:nvSpPr>
          <p:cNvPr id="12" name="text-140">
            <a:extLst xmlns:a="http://schemas.openxmlformats.org/drawingml/2006/main">
              <a:ext uri="{FF2B5EF4-FFF2-40B4-BE49-F238E27FC236}">
                <a16:creationId xmlns:a16="http://schemas.microsoft.com/office/drawing/2014/main" id="{24411F55-91CA-49D1-B198-BE7B33AB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0896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질문지·POV 계획·기록표</a:t>
            </a:r>
          </a:p>
        </p:txBody>
      </p:sp>
      <p:sp>
        <p:nvSpPr>
          <p:cNvPr id="13" name="text-141">
            <a:extLst xmlns:a="http://schemas.openxmlformats.org/drawingml/2006/main">
              <a:ext uri="{FF2B5EF4-FFF2-40B4-BE49-F238E27FC236}">
                <a16:creationId xmlns:a16="http://schemas.microsoft.com/office/drawing/2014/main" id="{98050B7C-3643-4F11-8E8E-CF057C8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896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성공기준 → 검증 방법 → 증거 → 담당·일정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12F4D-0680-43B2-8242-1F503D43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474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5" name="text-142">
            <a:extLst xmlns:a="http://schemas.openxmlformats.org/drawingml/2006/main">
              <a:ext uri="{FF2B5EF4-FFF2-40B4-BE49-F238E27FC236}">
                <a16:creationId xmlns:a16="http://schemas.microsoft.com/office/drawing/2014/main" id="{C705CCBD-BB97-420C-A634-1CD88B59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047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발표·평가</a:t>
            </a:r>
          </a:p>
        </p:txBody>
      </p:sp>
      <p:sp>
        <p:nvSpPr>
          <p:cNvPr id="16" name="text-143">
            <a:extLst xmlns:a="http://schemas.openxmlformats.org/drawingml/2006/main">
              <a:ext uri="{FF2B5EF4-FFF2-40B4-BE49-F238E27FC236}">
                <a16:creationId xmlns:a16="http://schemas.microsoft.com/office/drawing/2014/main" id="{5739AD84-0895-42E9-80BC-1A0E350F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6047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결과보고 3장·평가표</a:t>
            </a:r>
          </a:p>
        </p:txBody>
      </p:sp>
      <p:sp>
        <p:nvSpPr>
          <p:cNvPr id="17" name="text-144">
            <a:extLst xmlns:a="http://schemas.openxmlformats.org/drawingml/2006/main">
              <a:ext uri="{FF2B5EF4-FFF2-40B4-BE49-F238E27FC236}">
                <a16:creationId xmlns:a16="http://schemas.microsoft.com/office/drawing/2014/main" id="{548AE4CD-DEF1-43CB-B3CE-904EAFE9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047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질문 카드, 모범 답안과 피드백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6B597-C8B8-4F57-A207-49921175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625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9" name="text-145">
            <a:extLst xmlns:a="http://schemas.openxmlformats.org/drawingml/2006/main">
              <a:ext uri="{FF2B5EF4-FFF2-40B4-BE49-F238E27FC236}">
                <a16:creationId xmlns:a16="http://schemas.microsoft.com/office/drawing/2014/main" id="{E4A1CDCF-CBCD-43B4-A7E2-46179206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198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강사 키트</a:t>
            </a:r>
          </a:p>
        </p:txBody>
      </p:sp>
      <p:sp>
        <p:nvSpPr>
          <p:cNvPr id="20" name="text-146">
            <a:extLst xmlns:a="http://schemas.openxmlformats.org/drawingml/2006/main">
              <a:ext uri="{FF2B5EF4-FFF2-40B4-BE49-F238E27FC236}">
                <a16:creationId xmlns:a16="http://schemas.microsoft.com/office/drawing/2014/main" id="{662B1A9B-4F26-4F0C-9F27-786AC31A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198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시연·실습 가이드</a:t>
            </a:r>
          </a:p>
        </p:txBody>
      </p:sp>
      <p:sp>
        <p:nvSpPr>
          <p:cNvPr id="21" name="text-147">
            <a:extLst xmlns:a="http://schemas.openxmlformats.org/drawingml/2006/main">
              <a:ext uri="{FF2B5EF4-FFF2-40B4-BE49-F238E27FC236}">
                <a16:creationId xmlns:a16="http://schemas.microsoft.com/office/drawing/2014/main" id="{773E7EB7-A247-41C8-B8F1-9813419A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198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15분 시연 흐름, 기술 지원·에스컬레이션 경로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B1AA2-3D2E-4727-A073-3D3D0E88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776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23" name="text-148">
            <a:extLst xmlns:a="http://schemas.openxmlformats.org/drawingml/2006/main">
              <a:ext uri="{FF2B5EF4-FFF2-40B4-BE49-F238E27FC236}">
                <a16:creationId xmlns:a16="http://schemas.microsoft.com/office/drawing/2014/main" id="{5302B65C-5FCC-481A-9610-CB7883A0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3490"/>
            <a:ext cx="19050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행사 운영</a:t>
            </a:r>
          </a:p>
        </p:txBody>
      </p:sp>
      <p:sp>
        <p:nvSpPr>
          <p:cNvPr id="24" name="text-149">
            <a:extLst xmlns:a="http://schemas.openxmlformats.org/drawingml/2006/main">
              <a:ext uri="{FF2B5EF4-FFF2-40B4-BE49-F238E27FC236}">
                <a16:creationId xmlns:a16="http://schemas.microsoft.com/office/drawing/2014/main" id="{8C6A46B1-76EE-4EE5-8D0F-25F83575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63490"/>
            <a:ext cx="31432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사전 안내·현장 장비</a:t>
            </a:r>
          </a:p>
        </p:txBody>
      </p:sp>
      <p:sp>
        <p:nvSpPr>
          <p:cNvPr id="25" name="text-150">
            <a:extLst xmlns:a="http://schemas.openxmlformats.org/drawingml/2006/main">
              <a:ext uri="{FF2B5EF4-FFF2-40B4-BE49-F238E27FC236}">
                <a16:creationId xmlns:a16="http://schemas.microsoft.com/office/drawing/2014/main" id="{767D8BAF-8BE4-4FE0-ABEE-B91F378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3490"/>
            <a:ext cx="558165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기초학습·로그인 확인, 노트북·Wi-Fi·타이머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CC766-DADF-453B-8F37-A64C1E6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515754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51">
            <a:extLst xmlns:a="http://schemas.openxmlformats.org/drawingml/2006/main">
              <a:ext uri="{FF2B5EF4-FFF2-40B4-BE49-F238E27FC236}">
                <a16:creationId xmlns:a16="http://schemas.microsoft.com/office/drawing/2014/main" id="{496976FC-8A41-420E-B293-F0F0A16C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10 / 준비 일정</a:t>
            </a:r>
          </a:p>
        </p:txBody>
      </p:sp>
      <p:sp>
        <p:nvSpPr>
          <p:cNvPr id="2" name="text-152">
            <a:extLst xmlns:a="http://schemas.openxmlformats.org/drawingml/2006/main">
              <a:ext uri="{FF2B5EF4-FFF2-40B4-BE49-F238E27FC236}">
                <a16:creationId xmlns:a16="http://schemas.microsoft.com/office/drawing/2014/main" id="{DE998662-A362-4810-AD2A-98FC1CB3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행사 전 세 번의 점검으로 준비를 마친다</a:t>
            </a:r>
          </a:p>
        </p:txBody>
      </p:sp>
      <p:sp>
        <p:nvSpPr>
          <p:cNvPr id="3" name="text-153">
            <a:extLst xmlns:a="http://schemas.openxmlformats.org/drawingml/2006/main">
              <a:ext uri="{FF2B5EF4-FFF2-40B4-BE49-F238E27FC236}">
                <a16:creationId xmlns:a16="http://schemas.microsoft.com/office/drawing/2014/main" id="{D05F7131-41FD-410C-801E-FBF0E062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운영 담당·기술 코치가 공동 점검 · 참가자 권한으로 최종 리허설</a:t>
            </a:r>
          </a:p>
        </p:txBody>
      </p:sp>
      <p:sp>
        <p:nvSpPr>
          <p:cNvPr id="4" name="text-154">
            <a:extLst xmlns:a="http://schemas.openxmlformats.org/drawingml/2006/main">
              <a:ext uri="{FF2B5EF4-FFF2-40B4-BE49-F238E27FC236}">
                <a16:creationId xmlns:a16="http://schemas.microsoft.com/office/drawing/2014/main" id="{41E9CAC6-785A-4EC3-AD3F-1635B2DC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155">
            <a:extLst xmlns:a="http://schemas.openxmlformats.org/drawingml/2006/main">
              <a:ext uri="{FF2B5EF4-FFF2-40B4-BE49-F238E27FC236}">
                <a16:creationId xmlns:a16="http://schemas.microsoft.com/office/drawing/2014/main" id="{99C59315-E16D-46B1-8317-B9AB4E43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BD4D5-9F82-448E-BEB8-A536DA30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7" name="text-156">
            <a:extLst xmlns:a="http://schemas.openxmlformats.org/drawingml/2006/main">
              <a:ext uri="{FF2B5EF4-FFF2-40B4-BE49-F238E27FC236}">
                <a16:creationId xmlns:a16="http://schemas.microsoft.com/office/drawing/2014/main" id="{FD75C7D8-1468-47E5-B23C-6DC179C1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7475"/>
            <a:ext cx="350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D–7</a:t>
            </a:r>
          </a:p>
        </p:txBody>
      </p:sp>
      <p:sp>
        <p:nvSpPr>
          <p:cNvPr id="8" name="text-157">
            <a:extLst xmlns:a="http://schemas.openxmlformats.org/drawingml/2006/main">
              <a:ext uri="{FF2B5EF4-FFF2-40B4-BE49-F238E27FC236}">
                <a16:creationId xmlns:a16="http://schemas.microsoft.com/office/drawing/2014/main" id="{A7DE2F34-08DF-4715-B5EC-BBF94042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시나리오 확정</a:t>
            </a:r>
          </a:p>
        </p:txBody>
      </p:sp>
      <p:sp>
        <p:nvSpPr>
          <p:cNvPr id="9" name="text-158">
            <a:extLst xmlns:a="http://schemas.openxmlformats.org/drawingml/2006/main">
              <a:ext uri="{FF2B5EF4-FFF2-40B4-BE49-F238E27FC236}">
                <a16:creationId xmlns:a16="http://schemas.microsoft.com/office/drawing/2014/main" id="{A2B4C98F-14C1-4F70-A4FC-3ADB1C2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505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고객·페르소나·성공기준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사례 2–3건 선정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워크북·발표 양식 준비</a:t>
            </a:r>
          </a:p>
        </p:txBody>
      </p:sp>
      <p:sp>
        <p:nvSpPr>
          <p:cNvPr id="10" name="text-159">
            <a:extLst xmlns:a="http://schemas.openxmlformats.org/drawingml/2006/main">
              <a:ext uri="{FF2B5EF4-FFF2-40B4-BE49-F238E27FC236}">
                <a16:creationId xmlns:a16="http://schemas.microsoft.com/office/drawing/2014/main" id="{D22E52ED-48EE-4391-B851-5900348B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57475"/>
            <a:ext cx="350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D–3</a:t>
            </a:r>
          </a:p>
        </p:txBody>
      </p:sp>
      <p:sp>
        <p:nvSpPr>
          <p:cNvPr id="11" name="text-160">
            <a:extLst xmlns:a="http://schemas.openxmlformats.org/drawingml/2006/main">
              <a:ext uri="{FF2B5EF4-FFF2-40B4-BE49-F238E27FC236}">
                <a16:creationId xmlns:a16="http://schemas.microsoft.com/office/drawing/2014/main" id="{A46B2E49-040E-45EE-AA75-F73D7A12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67125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기술 점검</a:t>
            </a:r>
          </a:p>
        </p:txBody>
      </p:sp>
      <p:sp>
        <p:nvSpPr>
          <p:cNvPr id="12" name="text-161">
            <a:extLst xmlns:a="http://schemas.openxmlformats.org/drawingml/2006/main">
              <a:ext uri="{FF2B5EF4-FFF2-40B4-BE49-F238E27FC236}">
                <a16:creationId xmlns:a16="http://schemas.microsoft.com/office/drawing/2014/main" id="{37BA6011-F8F8-4995-A570-858C1F98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29125"/>
            <a:ext cx="3505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참가자 계정·권한 확인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최초 수집·실습 데이터 확인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사전학습·접속 안내</a:t>
            </a:r>
          </a:p>
        </p:txBody>
      </p:sp>
      <p:sp>
        <p:nvSpPr>
          <p:cNvPr id="13" name="text-162">
            <a:extLst xmlns:a="http://schemas.openxmlformats.org/drawingml/2006/main">
              <a:ext uri="{FF2B5EF4-FFF2-40B4-BE49-F238E27FC236}">
                <a16:creationId xmlns:a16="http://schemas.microsoft.com/office/drawing/2014/main" id="{A2879DF0-2AFA-473B-98C0-431037F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57475"/>
            <a:ext cx="350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D–1</a:t>
            </a:r>
          </a:p>
        </p:txBody>
      </p:sp>
      <p:sp>
        <p:nvSpPr>
          <p:cNvPr id="14" name="text-163">
            <a:extLst xmlns:a="http://schemas.openxmlformats.org/drawingml/2006/main">
              <a:ext uri="{FF2B5EF4-FFF2-40B4-BE49-F238E27FC236}">
                <a16:creationId xmlns:a16="http://schemas.microsoft.com/office/drawing/2014/main" id="{53751811-FA85-4C37-A881-EF2B20AB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전체 리허설</a:t>
            </a:r>
          </a:p>
        </p:txBody>
      </p:sp>
      <p:sp>
        <p:nvSpPr>
          <p:cNvPr id="15" name="text-164">
            <a:extLst xmlns:a="http://schemas.openxmlformats.org/drawingml/2006/main">
              <a:ext uri="{FF2B5EF4-FFF2-40B4-BE49-F238E27FC236}">
                <a16:creationId xmlns:a16="http://schemas.microsoft.com/office/drawing/2014/main" id="{E8C5746C-91A7-4C5A-AFD4-00830C5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29125"/>
            <a:ext cx="3505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참가자 권한으로 실습 완주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시간·화면·저장 위치 확인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대체 자료·지원 경로 점검</a:t>
            </a:r>
          </a:p>
        </p:txBody>
      </p:sp>
    </p:spTree>
    <p:extLst>
      <p:ext uri="{BB962C8B-B14F-4D97-AF65-F5344CB8AC3E}">
        <p14:creationId xmlns:p14="http://schemas.microsoft.com/office/powerpoint/2010/main" val="1696240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65">
            <a:extLst xmlns:a="http://schemas.openxmlformats.org/drawingml/2006/main">
              <a:ext uri="{FF2B5EF4-FFF2-40B4-BE49-F238E27FC236}">
                <a16:creationId xmlns:a16="http://schemas.microsoft.com/office/drawing/2014/main" id="{FDC0E200-298F-4716-8B2E-3EF56348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11 / 수행 평가·다음 단계</a:t>
            </a:r>
          </a:p>
        </p:txBody>
      </p:sp>
      <p:sp>
        <p:nvSpPr>
          <p:cNvPr id="2" name="text-166">
            <a:extLst xmlns:a="http://schemas.openxmlformats.org/drawingml/2006/main">
              <a:ext uri="{FF2B5EF4-FFF2-40B4-BE49-F238E27FC236}">
                <a16:creationId xmlns:a16="http://schemas.microsoft.com/office/drawing/2014/main" id="{2EF349BC-9060-41AB-9C10-481ED402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첫 고객 POV로 학습을 연결한다</a:t>
            </a:r>
          </a:p>
        </p:txBody>
      </p:sp>
      <p:sp>
        <p:nvSpPr>
          <p:cNvPr id="3" name="text-167">
            <a:extLst xmlns:a="http://schemas.openxmlformats.org/drawingml/2006/main">
              <a:ext uri="{FF2B5EF4-FFF2-40B4-BE49-F238E27FC236}">
                <a16:creationId xmlns:a16="http://schemas.microsoft.com/office/drawing/2014/main" id="{DDCC7357-D234-44CD-8638-F58CE525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파트너가 진행을 맡고, Wiz는 계획서와 최종 결과보고를 리뷰</a:t>
            </a:r>
          </a:p>
        </p:txBody>
      </p:sp>
      <p:sp>
        <p:nvSpPr>
          <p:cNvPr id="4" name="text-168">
            <a:extLst xmlns:a="http://schemas.openxmlformats.org/drawingml/2006/main">
              <a:ext uri="{FF2B5EF4-FFF2-40B4-BE49-F238E27FC236}">
                <a16:creationId xmlns:a16="http://schemas.microsoft.com/office/drawing/2014/main" id="{4DDC4718-B824-4F04-8CD9-01FC8977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PARTNER POV DOJO  /  APJ · 운영 제안</a:t>
            </a:r>
          </a:p>
        </p:txBody>
      </p:sp>
      <p:sp>
        <p:nvSpPr>
          <p:cNvPr id="5" name="text-169">
            <a:extLst xmlns:a="http://schemas.openxmlformats.org/drawingml/2006/main">
              <a:ext uri="{FF2B5EF4-FFF2-40B4-BE49-F238E27FC236}">
                <a16:creationId xmlns:a16="http://schemas.microsoft.com/office/drawing/2014/main" id="{A8B58268-C658-4BF1-B182-6318F00D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75D66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967A2-0DF5-46E2-A027-EA872681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7" name="text-170">
            <a:extLst xmlns:a="http://schemas.openxmlformats.org/drawingml/2006/main">
              <a:ext uri="{FF2B5EF4-FFF2-40B4-BE49-F238E27FC236}">
                <a16:creationId xmlns:a16="http://schemas.microsoft.com/office/drawing/2014/main" id="{26101304-A4E5-4B1C-BA21-10A48015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9050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계획</a:t>
            </a:r>
          </a:p>
        </p:txBody>
      </p:sp>
      <p:sp>
        <p:nvSpPr>
          <p:cNvPr id="8" name="text-171">
            <a:extLst xmlns:a="http://schemas.openxmlformats.org/drawingml/2006/main">
              <a:ext uri="{FF2B5EF4-FFF2-40B4-BE49-F238E27FC236}">
                <a16:creationId xmlns:a16="http://schemas.microsoft.com/office/drawing/2014/main" id="{18F299D3-2088-4F33-A53C-A7E9541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3143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문제와 연결했는가?</a:t>
            </a:r>
          </a:p>
        </p:txBody>
      </p:sp>
      <p:sp>
        <p:nvSpPr>
          <p:cNvPr id="9" name="text-172">
            <a:extLst xmlns:a="http://schemas.openxmlformats.org/drawingml/2006/main">
              <a:ext uri="{FF2B5EF4-FFF2-40B4-BE49-F238E27FC236}">
                <a16:creationId xmlns:a16="http://schemas.microsoft.com/office/drawing/2014/main" id="{B5FF68CC-A380-4008-A1C9-77C6E20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55816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범위·성공기준·담당자·일정이 명확하다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72743-E8A8-4CCB-9CB9-8410A2C9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6113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1" name="text-173">
            <a:extLst xmlns:a="http://schemas.openxmlformats.org/drawingml/2006/main">
              <a:ext uri="{FF2B5EF4-FFF2-40B4-BE49-F238E27FC236}">
                <a16:creationId xmlns:a16="http://schemas.microsoft.com/office/drawing/2014/main" id="{5C61C1F2-E035-4C5B-9F5A-ECBE5A0E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1838"/>
            <a:ext cx="19050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증거</a:t>
            </a:r>
          </a:p>
        </p:txBody>
      </p:sp>
      <p:sp>
        <p:nvSpPr>
          <p:cNvPr id="12" name="text-174">
            <a:extLst xmlns:a="http://schemas.openxmlformats.org/drawingml/2006/main">
              <a:ext uri="{FF2B5EF4-FFF2-40B4-BE49-F238E27FC236}">
                <a16:creationId xmlns:a16="http://schemas.microsoft.com/office/drawing/2014/main" id="{DBC58489-EA77-4303-B167-4A256DDF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71838"/>
            <a:ext cx="3143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주장을 검증할 수 있는가?</a:t>
            </a:r>
          </a:p>
        </p:txBody>
      </p:sp>
      <p:sp>
        <p:nvSpPr>
          <p:cNvPr id="13" name="text-175">
            <a:extLst xmlns:a="http://schemas.openxmlformats.org/drawingml/2006/main">
              <a:ext uri="{FF2B5EF4-FFF2-40B4-BE49-F238E27FC236}">
                <a16:creationId xmlns:a16="http://schemas.microsoft.com/office/drawing/2014/main" id="{09612CF3-0B38-442A-A608-CDC14E15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71838"/>
            <a:ext cx="55816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근거가 있고 미검증 사항을 구분한다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4F2D4-B99B-477F-8813-F3D32D70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5" name="text-176">
            <a:extLst xmlns:a="http://schemas.openxmlformats.org/drawingml/2006/main">
              <a:ext uri="{FF2B5EF4-FFF2-40B4-BE49-F238E27FC236}">
                <a16:creationId xmlns:a16="http://schemas.microsoft.com/office/drawing/2014/main" id="{B5D4A10C-5F7D-46A0-AF75-E8E3259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19050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설명</a:t>
            </a:r>
          </a:p>
        </p:txBody>
      </p:sp>
      <p:sp>
        <p:nvSpPr>
          <p:cNvPr id="16" name="text-177">
            <a:extLst xmlns:a="http://schemas.openxmlformats.org/drawingml/2006/main">
              <a:ext uri="{FF2B5EF4-FFF2-40B4-BE49-F238E27FC236}">
                <a16:creationId xmlns:a16="http://schemas.microsoft.com/office/drawing/2014/main" id="{7BE7CED6-884A-4506-AAFD-3AC2AC3E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86225"/>
            <a:ext cx="3143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우선순위·조치가 명확한가?</a:t>
            </a:r>
          </a:p>
        </p:txBody>
      </p:sp>
      <p:sp>
        <p:nvSpPr>
          <p:cNvPr id="17" name="text-178">
            <a:extLst xmlns:a="http://schemas.openxmlformats.org/drawingml/2006/main">
              <a:ext uri="{FF2B5EF4-FFF2-40B4-BE49-F238E27FC236}">
                <a16:creationId xmlns:a16="http://schemas.microsoft.com/office/drawing/2014/main" id="{CC864590-5894-47F2-AE7F-257F13E0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86225"/>
            <a:ext cx="55816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영향과 실행할 조치를 설명한다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954AE-6508-4C10-B0AE-CE4917A5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4888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  <p:sp>
        <p:nvSpPr>
          <p:cNvPr id="19" name="text-179">
            <a:extLst xmlns:a="http://schemas.openxmlformats.org/drawingml/2006/main">
              <a:ext uri="{FF2B5EF4-FFF2-40B4-BE49-F238E27FC236}">
                <a16:creationId xmlns:a16="http://schemas.microsoft.com/office/drawing/2014/main" id="{D3BFF5D7-E96F-4547-A7F5-E363CCEE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0613"/>
            <a:ext cx="19050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878D0"/>
                </a:solidFill>
                <a:latin typeface="Noto Sans CJK KR"/>
                <a:ea typeface="Noto Sans CJK KR"/>
                <a:cs typeface="Noto Sans CJK KR"/>
              </a:rPr>
              <a:t>합의</a:t>
            </a:r>
          </a:p>
        </p:txBody>
      </p:sp>
      <p:sp>
        <p:nvSpPr>
          <p:cNvPr id="20" name="text-180">
            <a:extLst xmlns:a="http://schemas.openxmlformats.org/drawingml/2006/main">
              <a:ext uri="{FF2B5EF4-FFF2-40B4-BE49-F238E27FC236}">
                <a16:creationId xmlns:a16="http://schemas.microsoft.com/office/drawing/2014/main" id="{F0C34E1B-AF82-425A-BA05-63B6C36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00613"/>
            <a:ext cx="3143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다음 단계를 정했는가?</a:t>
            </a:r>
          </a:p>
        </p:txBody>
      </p:sp>
      <p:sp>
        <p:nvSpPr>
          <p:cNvPr id="21" name="text-181">
            <a:extLst xmlns:a="http://schemas.openxmlformats.org/drawingml/2006/main">
              <a:ext uri="{FF2B5EF4-FFF2-40B4-BE49-F238E27FC236}">
                <a16:creationId xmlns:a16="http://schemas.microsoft.com/office/drawing/2014/main" id="{A2FEB58B-C532-4DDF-B70B-278E67A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00613"/>
            <a:ext cx="55816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고객 질문에 답하고 담당·일정을 합의한다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970C7-4DBB-4A0E-B91E-41CADC5F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0D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06195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2026-09-07T08:03:52.8070000Z</dcterms:created>
  <dcterms:modified xsi:type="dcterms:W3CDTF">2026-09-07T08:03:52.8070000Z</dcterms:modified>
</coreProperties>
</file>